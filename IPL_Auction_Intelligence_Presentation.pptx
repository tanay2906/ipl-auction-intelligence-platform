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8" r:id="rId3"/>
    <p:sldId id="269" r:id="rId4"/>
    <p:sldId id="276" r:id="rId5"/>
    <p:sldId id="271" r:id="rId6"/>
    <p:sldId id="281" r:id="rId7"/>
    <p:sldId id="274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CE3A7E-C01D-95F3-953D-10924AFF7C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8DF76-461C-0DF9-C6AC-C76390BAB2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582BA-7EFE-407E-89C4-0B93D6902EB6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3B6F2-060B-2A7D-7267-3DD694FDFB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BA839-3ABC-5C0D-B49D-B8F36CE4D45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285F1-9BFD-45D1-BC78-62ED228D70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704490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93DB3-DD50-4BCB-808F-056A97D70943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895A5-E90E-45A6-8EC9-92031BC7B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2898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AA8A-0461-E3D2-B78A-78BA4BEFE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4A8B7-25F6-FC66-6BBD-59EEC98E1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08EC6-70D8-57A7-4958-EB39C4D2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5A61-AC31-040F-F754-9F799CDE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B090F-A0DD-F788-C924-F8F11C7F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646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1550-720F-1551-7ECD-38E0A181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52ED2-9EAE-3FC1-552D-936317F7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3D6D7-9C62-0BA4-ECCE-C7F1B498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C0DA-BD3E-2922-843E-052FCBAF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6839-9AC9-7FFA-6B9C-90E48BA1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34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1AA9B-5C3B-B473-97BC-C563A1B5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81002-C0AB-597C-017F-395D4D440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6A9F7-3A4B-FD87-C0E7-6309184F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3DB98-A48F-F5EE-CCA5-1DE7A1AD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57016-015F-3B6C-A134-3212E7F6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91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3EFD-CC5D-DB08-961B-C3B9356A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4AC6C-EC53-1A3D-ABF6-B5B34FB17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ACC6C-4EC4-0CED-0818-7EAEC8945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6209-BD80-EEF0-1DDC-5C63F1DD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34277-06EF-8234-188E-19A31C38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A4A4-6F1E-3530-0EF3-30D1912F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1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02AC-976D-774F-026F-89DEEFBE9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03695-CC07-353B-DB24-4D620826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9E3ED-3C4D-5DB7-3580-0044FCB88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9AA589-B8EB-B021-2764-A6606477B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0EB89-042B-75BE-B3A3-8EF0E3348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00D317-6560-763B-0171-5DCDF388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B9185F-70EF-DEBC-EA5D-4A445E84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E1051-F31E-D5D1-E18E-D686B921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5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6887-0403-6A89-E11C-79FDC369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7A29C-DA86-EC2B-2852-2EAA3421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945625-7DFF-9CE8-3985-DFBBFC4F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5EE1F-503A-BD55-1AFB-01B04AF4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74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F3978-FE3A-4595-3568-DBE97412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5577-633A-F73F-F2EF-7CC15E88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9FA2-3A34-82F4-5298-1C3972E3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A3D7-DCC9-3DBA-6701-3FFDCF597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B413-97C6-02AF-ED0F-8E540975C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371D3-C073-996F-A44C-FF2D185BC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4B48A-6110-CA23-CB80-3E94220A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DB034-A781-2AE2-0F77-74C7AE9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4FA56-B522-EF1F-0376-62598D02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94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E051-8572-1FE9-6391-B9EA65B3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3479F-ED9F-952E-3E3E-E780B3039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73381-BD8B-95D9-C784-123C42A6A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E1BDA-A36A-B539-4A4D-1884749C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3645-DE86-EF56-EE24-EBF5D1A1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461E6-E567-3384-166A-3A540924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01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9D13C-747B-5CE2-C2D9-9C5AB480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AD1A-CEE9-D8D7-CD69-52E7162B0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284D-C200-2179-9F96-7F0CE1BF1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A3B2-FA29-2320-C4FE-703F5D73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D84-8891-7E35-ABFF-C1F1EA4A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F725E-4475-7435-3A50-D8944F08E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C3BB-411D-B43A-D535-F3D5BBF00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230D-63A7-03DB-D233-64B38F57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48B5-6EAA-E750-9B01-5081877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79E0-EF84-8A6D-5F3F-5FE9CDB7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322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352E5C-2F4B-37A6-16C6-3B82ED91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995D9-963F-381A-9472-D3D568B2F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D178-FF8C-8CF3-1B0A-A7E7FEE44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6C7B9-7CC0-4911-9AF6-AED46E45886F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02D80-5D6B-B4FF-EBA5-D3FE81A2D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08575-0B25-2EE8-105C-FEB1BB797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1688A0-1D07-4E84-BFD6-12C507F49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47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B8FA-9FD4-DF1E-8D05-F60131516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				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FCA55D-A987-694D-E831-6201821D5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09" y="1376739"/>
            <a:ext cx="10972800" cy="5322011"/>
          </a:xfrm>
        </p:spPr>
        <p:txBody>
          <a:bodyPr>
            <a:noAutofit/>
          </a:bodyPr>
          <a:lstStyle/>
          <a:p>
            <a:pPr algn="ctr">
              <a:defRPr sz="2000" b="1">
                <a:solidFill>
                  <a:srgbClr val="B91C1C"/>
                </a:solidFill>
                <a:latin typeface="Trebuchet MS"/>
              </a:defRPr>
            </a:pPr>
            <a:r>
              <a:t>Summer Training Project Presentation</a:t>
            </a:r>
            <a:endParaRPr lang="en-IN" sz="3200" b="1" dirty="0">
              <a:latin typeface="Trebuchet MS" panose="020B0603020202020204" pitchFamily="34" charset="0"/>
            </a:endParaRPr>
          </a:p>
          <a:p>
            <a:pPr algn="ctr">
              <a:defRPr sz="2400" b="1">
                <a:solidFill>
                  <a:srgbClr val="1E3A8A"/>
                </a:solidFill>
                <a:latin typeface="Trebuchet MS"/>
              </a:defRPr>
            </a:pPr>
            <a:r>
              <a:t>IPL FRANCHISE AUCTION INTELLIGENCE &amp;</a:t>
            </a:r>
            <a:br/>
            <a:r>
              <a:t>PLAYER VALUATION PLATFORM</a:t>
            </a:r>
          </a:p>
          <a:p>
            <a:pPr algn="ctr">
              <a:defRPr sz="1300" i="1">
                <a:solidFill>
                  <a:srgbClr val="334155"/>
                </a:solidFill>
                <a:latin typeface="Calibri"/>
              </a:defRPr>
            </a:pPr>
            <a:r>
              <a:t>A Data Analytics Trinity: SQL Data Warehousing, Microsoft Excel Financial Modeling &amp; Power BI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DADA8-0C51-2EEC-0CF1-95C5C83F674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21519-5B45-B4EB-1438-13D4194FE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621119-736C-9442-32B2-785335AAC880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17E1CBB-AF57-3F2D-3AD0-7A6F5C29C0A9}"/>
              </a:ext>
            </a:extLst>
          </p:cNvPr>
          <p:cNvSpPr/>
          <p:nvPr/>
        </p:nvSpPr>
        <p:spPr>
          <a:xfrm>
            <a:off x="2301410" y="3959890"/>
            <a:ext cx="3708971" cy="2037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defRPr sz="1300" b="1">
                <a:solidFill>
                  <a:srgbClr val="0F172A"/>
                </a:solidFill>
                <a:latin typeface="Calibri"/>
              </a:defRPr>
            </a:pPr>
            <a:r>
              <a:t>Submitted by:</a:t>
            </a:r>
            <a:br/>
            <a:r>
              <a:t>Tanay</a:t>
            </a:r>
            <a:br/>
            <a:r>
              <a:t>(B.Tech - Computer Science &amp; Engineering)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CA2278-3693-E2D0-9D5D-F914C1D8A271}"/>
              </a:ext>
            </a:extLst>
          </p:cNvPr>
          <p:cNvSpPr/>
          <p:nvPr/>
        </p:nvSpPr>
        <p:spPr>
          <a:xfrm>
            <a:off x="7140538" y="3959890"/>
            <a:ext cx="4293815" cy="203777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Academic Details:</a:t>
            </a:r>
            <a:br/>
            <a:r>
              <a:t>AKTU Roll No: [Your Roll Number]</a:t>
            </a:r>
            <a:br/>
            <a:r>
              <a:t>United Group of Institutions</a:t>
            </a:r>
            <a:br/>
            <a:r>
              <a:t>Greater Noida / Prayagraj</a:t>
            </a:r>
          </a:p>
        </p:txBody>
      </p:sp>
    </p:spTree>
    <p:extLst>
      <p:ext uri="{BB962C8B-B14F-4D97-AF65-F5344CB8AC3E}">
        <p14:creationId xmlns:p14="http://schemas.microsoft.com/office/powerpoint/2010/main" val="98357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395E-D611-AA84-9603-DC0ABB7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ADB9452-4841-5900-0A13-8D4F4692FC8F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DF0CF307-3F72-574E-8244-07B1DE4F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Outline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A7C4B76-F98F-9764-43EB-3E3BF4F8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3762248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1. Introduction: </a:t>
            </a:r>
            <a:r>
              <a:rPr sz="1400">
                <a:solidFill>
                  <a:srgbClr val="334155"/>
                </a:solidFill>
                <a:latin typeface="Calibri"/>
              </a:rPr>
              <a:t>Modern Sports Analytics context, IPL franchise purse limits &amp; the 'Moneyball' problem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2. Objectives: </a:t>
            </a:r>
            <a:r>
              <a:rPr sz="1400">
                <a:solidFill>
                  <a:srgbClr val="334155"/>
                </a:solidFill>
                <a:latin typeface="Calibri"/>
              </a:rPr>
              <a:t>ETL data engineering, SQL relational warehousing, mathematical KPIs &amp; BI deployment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3. Methodology Used: </a:t>
            </a:r>
            <a:r>
              <a:rPr sz="1400">
                <a:solidFill>
                  <a:srgbClr val="334155"/>
                </a:solidFill>
                <a:latin typeface="Calibri"/>
              </a:rPr>
              <a:t>The Analytics Trinity Architecture (Python ETL + SQL Warehouse + Excel + Power BI)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4. Implementation: </a:t>
            </a:r>
            <a:r>
              <a:rPr sz="1400">
                <a:solidFill>
                  <a:srgbClr val="334155"/>
                </a:solidFill>
                <a:latin typeface="Calibri"/>
              </a:rPr>
              <a:t>Data modeling (87k+ deliveries), situational strike rates, Excel audits &amp; Streamlit UI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5. Conclusion: </a:t>
            </a:r>
            <a:r>
              <a:rPr sz="1400">
                <a:solidFill>
                  <a:srgbClr val="334155"/>
                </a:solidFill>
                <a:latin typeface="Calibri"/>
              </a:rPr>
              <a:t>Business value delivered, purse optimization impact, key takeaways &amp; future scope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6. References: </a:t>
            </a:r>
            <a:r>
              <a:rPr sz="1400">
                <a:solidFill>
                  <a:srgbClr val="334155"/>
                </a:solidFill>
                <a:latin typeface="Calibri"/>
              </a:rPr>
              <a:t>Open sports data archives, documentation, technology stack &amp; GitHub code repository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93AFAF28-1497-1B30-B572-F6CBEF41A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0152F6-A079-342A-72A9-9C63EE555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8C9FF8-75AE-FC60-0ACA-B8FAFC66720B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40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7C71-DE9E-8528-C01E-ADC1A46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90606DC-41B8-1E10-E67A-B6E250C5242D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EE97636-D936-7382-0E0D-A61B6101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Introduction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A456588-EAF7-F166-DA41-437D69FD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Sports Business Intelligence Context: </a:t>
            </a:r>
            <a:r>
              <a:rPr sz="1400">
                <a:solidFill>
                  <a:srgbClr val="334155"/>
                </a:solidFill>
                <a:latin typeface="Calibri"/>
              </a:rPr>
              <a:t>The Indian Premier League (IPL) is a premier multi-billion dollar sporting league where 10 franchises compete under strict salary cap regulations (INR 120 Cr per franchise in 2025/2026).</a:t>
            </a:r>
            <a:endParaRPr lang="en-IN" sz="1800" dirty="0">
              <a:latin typeface="Trebuchet MS" panose="020B0603020202020204" pitchFamily="34" charset="0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Core Business Problem: </a:t>
            </a:r>
            <a:r>
              <a:rPr sz="1400">
                <a:solidFill>
                  <a:srgbClr val="334155"/>
                </a:solidFill>
                <a:latin typeface="Calibri"/>
              </a:rPr>
              <a:t>Franchises often suffer from 'Winner's Curse'—bidding crores based on aggregate historical averages (cumulative runs/wickets) without situational context (Powerplay vs. Death Overs).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Project Overview: </a:t>
            </a:r>
            <a:r>
              <a:rPr sz="1400">
                <a:solidFill>
                  <a:srgbClr val="334155"/>
                </a:solidFill>
                <a:latin typeface="Calibri"/>
              </a:rPr>
              <a:t>Engineered an end-to-end IPL Auction Intelligence Platform that harmonizes 87,000+ ball-by-ball delivery records (2022–2025) and verified multi-season contract prices into an executive valuation portal.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 'Moneyball' Philosophy: </a:t>
            </a:r>
            <a:r>
              <a:rPr sz="1400">
                <a:solidFill>
                  <a:srgbClr val="334155"/>
                </a:solidFill>
                <a:latin typeface="Calibri"/>
              </a:rPr>
              <a:t>Empowers team management to identify high-impact, undervalued clutch players while optimizing purse allocation across retention and mega-auction cycles.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A376CD85-B5AF-EEF0-EED3-DA579B988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B048C48-19D0-B154-6352-AF0418FCF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C6D13B-7E07-8C37-D1B0-F323D060342D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48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BDF9C-84FC-7749-B01D-2F2D9E8A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E3DE789-FF44-6F5F-7015-C7478428CB32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AFBB1A5-D565-31E4-6453-198364F34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Objectives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87C0CD0-8BC4-5A63-12AD-364645758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Data Cleaning &amp; Standardization: </a:t>
            </a:r>
            <a:r>
              <a:rPr sz="1400">
                <a:solidFill>
                  <a:srgbClr val="334155"/>
                </a:solidFill>
                <a:latin typeface="Calibri"/>
              </a:rPr>
              <a:t>Clean and normalize 87,419 delivery records; resolve franchise name rebrandings (RCB, PBKS, DC); guarantee 100% verified player roster integrity (0 retired / 0 unassigned players).</a:t>
            </a:r>
            <a:endParaRPr lang="en-IN" sz="1800" dirty="0">
              <a:latin typeface="Trebuchet MS" panose="020B0603020202020204" pitchFamily="34" charset="0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Relational Star Schema Warehousing: </a:t>
            </a:r>
            <a:r>
              <a:rPr sz="1400">
                <a:solidFill>
                  <a:srgbClr val="334155"/>
                </a:solidFill>
                <a:latin typeface="Calibri"/>
              </a:rPr>
              <a:t>Architect an enterprise SQLite data warehouse with normalized dimensions (dim_player_registry, dim_auction_prices, dim_matches) and delivery fact tables.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Mathematical KPI Engineering: </a:t>
            </a:r>
            <a:r>
              <a:rPr sz="1400">
                <a:solidFill>
                  <a:srgbClr val="334155"/>
                </a:solidFill>
                <a:latin typeface="Calibri"/>
              </a:rPr>
              <a:t>Formulate situational cricket KPIs: Phase Strike Rates (Powerplay/Middle/Death), True Bowling Economy, Cost Per Run (INR), and Performance-to-Salary Value Scores.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Executive Multi-Tier BI Delivery: </a:t>
            </a:r>
            <a:r>
              <a:rPr sz="1400">
                <a:solidFill>
                  <a:srgbClr val="334155"/>
                </a:solidFill>
                <a:latin typeface="Calibri"/>
              </a:rPr>
              <a:t>Deliver a master 5-sheet Microsoft Excel financial model, Power BI star schema DAX library, and an interactive Streamlit executive web cockpit with live SQL console.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A98B168-69BD-F030-901E-FCA228A0D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0EBE21F-E3F4-3502-03F3-248572305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A95CCD-FAEE-5F21-1300-761968C5C11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72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1F2EF-3D8E-26DF-0B25-96040AED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9923E21-A5E8-9FA6-C767-4CD32E84250A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CD239A6-9BE3-556E-BDE6-9127FAAE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Methodology Used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AAC9BB9-74B4-8CC4-3995-00DABF4CD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Layer 1 - Ingestion &amp; Data Engineering (Python): </a:t>
            </a:r>
            <a:r>
              <a:rPr sz="1400">
                <a:solidFill>
                  <a:srgbClr val="334155"/>
                </a:solidFill>
                <a:latin typeface="Calibri"/>
              </a:rPr>
              <a:t>Extracted match data from Cricsheet archives; built automated pipelines for delivery categorization, bowler run attribution, and cross-season player tracking.</a:t>
            </a:r>
            <a:endParaRPr lang="en-IN" sz="1800" dirty="0">
              <a:latin typeface="Trebuchet MS" panose="020B0603020202020204" pitchFamily="34" charset="0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Layer 2 - Relational Data Mart (SQL:2016): </a:t>
            </a:r>
            <a:r>
              <a:rPr sz="1400">
                <a:solidFill>
                  <a:srgbClr val="334155"/>
                </a:solidFill>
                <a:latin typeface="Calibri"/>
              </a:rPr>
              <a:t>Constructed indexed relational tables and pre-aggregated analytical views (vw_scouting_master_mart) ensuring sub-5ms query response times.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Layer 3 - Financial Modeling &amp; Cleansing (Microsoft Excel): </a:t>
            </a:r>
            <a:r>
              <a:rPr sz="1400">
                <a:solidFill>
                  <a:srgbClr val="334155"/>
                </a:solidFill>
                <a:latin typeface="Calibri"/>
              </a:rPr>
              <a:t>Built multi-sheet financial workbooks utilizing two-tier XLOOKUP harmonization, salary cap utilization models, and automated formula audit sheets.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Layer 4 - Executive BI Dashboard (Power BI &amp; Streamlit): </a:t>
            </a:r>
            <a:r>
              <a:rPr sz="1400">
                <a:solidFill>
                  <a:srgbClr val="334155"/>
                </a:solidFill>
                <a:latin typeface="Calibri"/>
              </a:rPr>
              <a:t>Authored 25+ DAX measures, dark executive styling palettes, interactive radar dossiers, valuation scatter plots, and embedded SQL consoles.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66D554F-754A-1E29-3ADF-C021AB95C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46C0CA-D25D-E5D0-9009-59AFFA163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35A781-EF00-8A63-6FB9-E56AF5533D34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70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CF8C-2BDD-6010-6AD7-5EA18DA5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DE7717D-4D77-6308-9596-EA4B4A29ED38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193504F4-AD82-7021-F27D-60E881D8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Implementation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5CE7E40-B369-623E-223E-8A607B5E9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Big Data Processing Scale: </a:t>
            </a:r>
            <a:r>
              <a:rPr sz="1400">
                <a:solidFill>
                  <a:srgbClr val="334155"/>
                </a:solidFill>
                <a:latin typeface="Calibri"/>
              </a:rPr>
              <a:t>Successfully ingested and indexed 87,419 balls across 2022–2025 seasons, linking 260 canonical players and 772 verified franchise season contracts (2022–2026).</a:t>
            </a:r>
            <a:endParaRPr lang="en-IN" sz="1800" dirty="0">
              <a:latin typeface="Trebuchet MS" panose="020B0603020202020204" pitchFamily="34" charset="0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Situational Formulations Implemented: </a:t>
            </a:r>
            <a:r>
              <a:rPr sz="1400">
                <a:solidFill>
                  <a:srgbClr val="334155"/>
                </a:solidFill>
                <a:latin typeface="Calibri"/>
              </a:rPr>
              <a:t>• Cost Per Run = Sold Price (INR) / Total Runs
• Death Overs SR = (Runs in Overs 16–20 / Balls Faced in 16–20) * 100
• Value Score = Situational Impact Index / Salary Benchmark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Enterprise Excel Master Model: </a:t>
            </a:r>
            <a:r>
              <a:rPr sz="1400">
                <a:solidFill>
                  <a:srgbClr val="334155"/>
                </a:solidFill>
                <a:latin typeface="Calibri"/>
              </a:rPr>
              <a:t>Generated 'IPL_Auction_Intelligence_Model.xlsx' with dynamic pivot tables, two-tier XLOOKUP name reconciliations, and team purse allocation breakdowns.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Interactive Web Application: </a:t>
            </a:r>
            <a:r>
              <a:rPr sz="1400">
                <a:solidFill>
                  <a:srgbClr val="334155"/>
                </a:solidFill>
                <a:latin typeface="Calibri"/>
              </a:rPr>
              <a:t>Deployed full-stack Streamlit app featuring 9 executive tabs: Player 360° Dossiers, Franchise Standings, Valuation Matrix, Bowling Threat Hub, and Live SQL Engine.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7CD585F3-CAA9-CAE7-DAA8-3C58D34F0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EAE96C-83DF-530A-844A-9A6ADE9AA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9520B5D-17CA-63E0-95CE-AC4DFA702EAA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619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BAFA-C592-6E55-F818-230D80E5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A917874-E942-8E27-5727-4CF761368A00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797BE05-8F59-7FA4-8DFC-C78CE047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Conclusion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76252F9-7407-F97F-6D97-2D0D9E646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Decision-Making Impact: </a:t>
            </a:r>
            <a:r>
              <a:rPr sz="1400">
                <a:solidFill>
                  <a:srgbClr val="334155"/>
                </a:solidFill>
                <a:latin typeface="Calibri"/>
              </a:rPr>
              <a:t>Replaces subjective intuition with mathematical rigor, protecting franchise management from overpaying for past reputation and pinpointing clutch match-winners.</a:t>
            </a:r>
            <a:endParaRPr lang="en-IN" sz="1800" dirty="0">
              <a:latin typeface="Trebuchet MS" panose="020B0603020202020204" pitchFamily="34" charset="0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Undervalued Talent Discovery: </a:t>
            </a:r>
            <a:r>
              <a:rPr sz="1400">
                <a:solidFill>
                  <a:srgbClr val="334155"/>
                </a:solidFill>
                <a:latin typeface="Calibri"/>
              </a:rPr>
              <a:t>Successfully identified high-impact finishers (Death Overs SR &gt; 160 at &lt;= INR 6.00 Cr) and Powerplay wicket specialists delivering exceptional ROI.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Academic &amp; Practical Stack Mastery: </a:t>
            </a:r>
            <a:r>
              <a:rPr sz="1400">
                <a:solidFill>
                  <a:srgbClr val="334155"/>
                </a:solidFill>
                <a:latin typeface="Calibri"/>
              </a:rPr>
              <a:t>Demonstrated industry-grade proficiency across the complete Data Analytics lifecycle: SQL Warehousing, Advanced Excel Financial Modeling, Power BI DAX Architecture, and Python BI.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Future Enhancements: </a:t>
            </a:r>
            <a:r>
              <a:rPr sz="1400">
                <a:solidFill>
                  <a:srgbClr val="334155"/>
                </a:solidFill>
                <a:latin typeface="Calibri"/>
              </a:rPr>
              <a:t>Integration of ball-tracking telemetry, weather &amp; pitch condition sensors, player fitness tracking, and machine learning predictive auction bidding models.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EB1D0318-6550-EC88-F3AF-851BB4016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21C906-46E9-BD68-7B7C-DF38DA05B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CAD0B6-0563-E4E4-4ADE-CCEEE57C51FF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00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740A-1926-004E-5F53-EC1D463A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0D6604C-0111-798A-182A-4B4A8088B877}"/>
              </a:ext>
            </a:extLst>
          </p:cNvPr>
          <p:cNvSpPr txBox="1">
            <a:spLocks/>
          </p:cNvSpPr>
          <p:nvPr/>
        </p:nvSpPr>
        <p:spPr>
          <a:xfrm>
            <a:off x="691718" y="2034284"/>
            <a:ext cx="10515600" cy="39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			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0E60A89-A293-BACC-B000-32B562FF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075"/>
            <a:ext cx="10515600" cy="595509"/>
          </a:xfrm>
        </p:spPr>
        <p:txBody>
          <a:bodyPr>
            <a:normAutofit fontScale="90000"/>
          </a:bodyPr>
          <a:lstStyle/>
          <a:p>
            <a:pPr>
              <a:defRPr sz="2600" b="1">
                <a:solidFill>
                  <a:srgbClr val="1E3A8A"/>
                </a:solidFill>
                <a:latin typeface="Trebuchet MS"/>
              </a:defRPr>
            </a:pPr>
            <a:r>
              <a:t>References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3F3E7E9-D890-6368-D23D-EC75E5D44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3677"/>
            <a:ext cx="10515600" cy="4491945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Primary Data Archives: </a:t>
            </a:r>
            <a:r>
              <a:rPr sz="1400">
                <a:solidFill>
                  <a:srgbClr val="334155"/>
                </a:solidFill>
                <a:latin typeface="Calibri"/>
              </a:rPr>
              <a:t>Cricsheet.org (Official Ball-by-Ball Match Registry 2022–2025) &amp; Official IPL Auction Contract Disclosures (IPLT20.com).</a:t>
            </a:r>
            <a:endParaRPr lang="en-IN" sz="1800" dirty="0">
              <a:latin typeface="Trebuchet MS" panose="020B0603020202020204" pitchFamily="34" charset="0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Database &amp; Analytics Tools: </a:t>
            </a:r>
            <a:r>
              <a:rPr sz="1400">
                <a:solidFill>
                  <a:srgbClr val="334155"/>
                </a:solidFill>
                <a:latin typeface="Calibri"/>
              </a:rPr>
              <a:t>SQLite 3 Relational Database Engine, Microsoft Excel 365 (Dynamic Arrays &amp; Financial Modeling), Microsoft Power BI Desktop.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Python Data Engineering Stack: </a:t>
            </a:r>
            <a:r>
              <a:rPr sz="1400">
                <a:solidFill>
                  <a:srgbClr val="334155"/>
                </a:solidFill>
                <a:latin typeface="Calibri"/>
              </a:rPr>
              <a:t>Streamlit Framework, Pandas, NumPy, Plotly Express/Graph Objects, OpenPyXL, Scipy, and Python-PPTX.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Source Code &amp; Documentation Repository: </a:t>
            </a:r>
            <a:r>
              <a:rPr sz="1400">
                <a:solidFill>
                  <a:srgbClr val="334155"/>
                </a:solidFill>
                <a:latin typeface="Calibri"/>
              </a:rPr>
              <a:t>GitHub Repository: https://github.com/tanay2906/IPL-Auction-Intelligence-Platform (Complete code, datasets, Excel models, and SQL scripts).</a:t>
            </a:r>
          </a:p>
        </p:txBody>
      </p:sp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F82CFBCD-7126-3AE3-561D-39FAD29A7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296621"/>
            <a:ext cx="2290579" cy="7365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C357A8-5422-9E9E-6C0A-8206D4E0F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91" y="140651"/>
            <a:ext cx="1368026" cy="88412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F3B6F4C-2D37-AAF2-8965-565DA634178C}"/>
              </a:ext>
            </a:extLst>
          </p:cNvPr>
          <p:cNvCxnSpPr/>
          <p:nvPr/>
        </p:nvCxnSpPr>
        <p:spPr>
          <a:xfrm>
            <a:off x="0" y="1105981"/>
            <a:ext cx="12145617" cy="0"/>
          </a:xfrm>
          <a:prstGeom prst="line">
            <a:avLst/>
          </a:prstGeom>
          <a:scene3d>
            <a:camera prst="orthographicFront"/>
            <a:lightRig rig="threePt" dir="t"/>
          </a:scene3d>
          <a:sp3d extrusionH="50800" contourW="19050">
            <a:bevelT w="95250"/>
            <a:bevelB w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1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</TotalTime>
  <Words>68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Trebuchet MS</vt:lpstr>
      <vt:lpstr>Office Theme</vt:lpstr>
      <vt:lpstr>    </vt:lpstr>
      <vt:lpstr>Outline</vt:lpstr>
      <vt:lpstr>Introduction</vt:lpstr>
      <vt:lpstr>Objectives</vt:lpstr>
      <vt:lpstr>Methodology Used</vt:lpstr>
      <vt:lpstr>Implementation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Suyash Shukla</dc:creator>
  <cp:lastModifiedBy>SUNIL KHARE</cp:lastModifiedBy>
  <cp:revision>8</cp:revision>
  <dcterms:created xsi:type="dcterms:W3CDTF">2024-08-24T09:30:54Z</dcterms:created>
  <dcterms:modified xsi:type="dcterms:W3CDTF">2026-10-11T13:00:49Z</dcterms:modified>
</cp:coreProperties>
</file>